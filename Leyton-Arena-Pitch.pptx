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200400" cy="3200400"/>
          </a:xfrm>
          <a:prstGeom prst="ellipse">
            <a:avLst/>
          </a:prstGeom>
          <a:solidFill>
            <a:srgbClr val="FFC80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F75C0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486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8835" y="768096"/>
            <a:ext cx="351129" cy="109728"/>
          </a:xfrm>
          <a:prstGeom prst="roundRect">
            <a:avLst>
              <a:gd name="adj" fmla="val 50000"/>
            </a:avLst>
          </a:prstGeom>
          <a:solidFill>
            <a:srgbClr val="FD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5100" y="614476"/>
            <a:ext cx="120700" cy="120700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26"/>
                </a:solidFill>
                <a:latin typeface="Calibri"/>
              </a:rPr>
              <a:t>LEYTON ARENA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8412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E6E80"/>
                </a:solidFill>
                <a:latin typeface="Calibri"/>
              </a:rPr>
              <a:t>R&amp;D delivery · gamified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1A1A26"/>
                </a:solidFill>
                <a:latin typeface="Calibri"/>
              </a:rPr>
              <a:t>Make every day a winning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6858000" cy="109728"/>
          </a:xfrm>
          <a:prstGeom prst="roundRect">
            <a:avLst>
              <a:gd name="adj" fmla="val 5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3A3A4A"/>
                </a:solidFill>
                <a:latin typeface="Calibri"/>
              </a:rPr>
              <a:t>Gamifying the day-to-day of R&amp;D consultants — to flatten the curve,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3A3A4A"/>
                </a:solidFill>
                <a:latin typeface="Calibri"/>
              </a:rPr>
              <a:t>build a culture of healthy competition, and give managers honest signal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3A3A4A"/>
                </a:solidFill>
                <a:latin typeface="Calibri"/>
              </a:rPr>
              <a:t>on who's flying and who needs a hand.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86400"/>
            <a:ext cx="1335024" cy="256032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3350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A1A26"/>
                </a:solidFill>
                <a:latin typeface="Calibri"/>
              </a:rPr>
              <a:t>100+ CONSULTANTS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39696" y="548640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9696" y="548640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40+ BADGES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72968" y="5486400"/>
            <a:ext cx="1179576" cy="25603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2968" y="548640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10+ CHALLENGES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5486400"/>
            <a:ext cx="1490472" cy="256032"/>
          </a:xfrm>
          <a:prstGeom prst="roundRect">
            <a:avLst>
              <a:gd name="adj" fmla="val 50000"/>
            </a:avLst>
          </a:prstGeom>
          <a:solidFill>
            <a:srgbClr val="1A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5486400"/>
            <a:ext cx="1490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DAILY, NOT 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Leyton Arena · MVP preview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75C03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A1A26"/>
                </a:solidFill>
                <a:latin typeface="Calibri"/>
              </a:rPr>
              <a:t>Month-end is a scramble. Forecasts aren't trusted.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A3A4A"/>
                </a:solidFill>
                <a:latin typeface="Calibri"/>
              </a:rPr>
              <a:t>Consultants do brilliant work — but the system around them rewards month-end heroics, not steady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70048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A1A26"/>
                </a:solidFill>
                <a:latin typeface="Calibri"/>
              </a:rPr>
              <a:t>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26"/>
                </a:solidFill>
                <a:latin typeface="Calibri"/>
              </a:rPr>
              <a:t>Month-end spike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3A4A"/>
                </a:solidFill>
                <a:latin typeface="Calibri"/>
              </a:rPr>
              <a:t>Most invoices ship in the last week. Cash is lumpy; planning is fiction.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4688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670048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A1A26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33756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26"/>
                </a:solidFill>
                <a:latin typeface="Calibri"/>
              </a:rPr>
              <a:t>Quarter-end 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379476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3A4A"/>
                </a:solidFill>
                <a:latin typeface="Calibri"/>
              </a:rPr>
              <a:t>Q-close runs ~15–20% above other months. Heroic, not repeatable.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24688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2670048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A1A26"/>
                </a:solidFill>
                <a:latin typeface="Calibri"/>
              </a:rP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33756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26"/>
                </a:solidFill>
                <a:latin typeface="Calibri"/>
              </a:rPr>
              <a:t>Late-week slip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79476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3A4A"/>
                </a:solidFill>
                <a:latin typeface="Calibri"/>
              </a:rPr>
              <a:t>Pushes cluster in the final 5 days — committed work quietly slips into next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24688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2670048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A1A26"/>
                </a:solidFill>
                <a:latin typeface="Calibri"/>
              </a:rPr>
              <a:t>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333756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26"/>
                </a:solidFill>
                <a:latin typeface="Calibri"/>
              </a:rPr>
              <a:t>No early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379476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3A4A"/>
                </a:solidFill>
                <a:latin typeface="Calibri"/>
              </a:rPr>
              <a:t>Managers find out at month-end. By then it's coaching after the fact.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A3A4A"/>
                </a:solidFill>
                <a:latin typeface="Calibri"/>
              </a:rPr>
              <a:t>These aren't tooling gaps. They're behavioural patterns. Fix them with culture and visibility, not another dashboard.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Leyton Arena · MVP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75C03"/>
                </a:solidFill>
                <a:latin typeface="Calibri"/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A1A26"/>
                </a:solidFill>
                <a:latin typeface="Calibri"/>
              </a:rPr>
              <a:t>Turn the daily grind into a game worth playing.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A3A4A"/>
                </a:solidFill>
                <a:latin typeface="Calibri"/>
              </a:rPr>
              <a:t>Visibility · streaks · friendly rivalry · real rewards. The mechanics that make work feel like wins.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606040"/>
            <a:ext cx="557784" cy="256032"/>
          </a:xfrm>
          <a:prstGeom prst="roundRect">
            <a:avLst>
              <a:gd name="adj" fmla="val 50000"/>
            </a:avLst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5577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A26"/>
                </a:solidFill>
                <a:latin typeface="Calibri"/>
              </a:rPr>
              <a:t>Quiet pipeline, loud month-end.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49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4B4B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74904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A"/>
                </a:solidFill>
                <a:latin typeface="Calibri"/>
              </a:rPr>
              <a:t>Targets show up monthly — invisible on day 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51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4B4B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2519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A"/>
                </a:solidFill>
                <a:latin typeface="Calibri"/>
              </a:rPr>
              <a:t>Recognition comes in the form of a Friday email.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54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4B4B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754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A"/>
                </a:solidFill>
                <a:latin typeface="Calibri"/>
              </a:rPr>
              <a:t>Coaching happens after the slip, not before.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57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4B4B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2578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A"/>
                </a:solidFill>
                <a:latin typeface="Calibri"/>
              </a:rPr>
              <a:t>Best consultants and stragglers look the same on a spreadsheet.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28600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75C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6560" y="2606040"/>
            <a:ext cx="1490472" cy="256032"/>
          </a:xfrm>
          <a:prstGeom prst="roundRect">
            <a:avLst>
              <a:gd name="adj" fmla="val 5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606040"/>
            <a:ext cx="1490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AFTER · WITH ARENA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06324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A26"/>
                </a:solidFill>
                <a:latin typeface="Calibri"/>
              </a:rPr>
              <a:t>Daily wins. Steady cadence. Loud recognition.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749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75C03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74904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A"/>
                </a:solidFill>
                <a:latin typeface="Calibri"/>
              </a:rPr>
              <a:t>Live leaderboard updates as work advances — every day counts.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251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75C03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2519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A"/>
                </a:solidFill>
                <a:latin typeface="Calibri"/>
              </a:rPr>
              <a:t>Fire streaks reward consistency over heroics.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754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75C03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754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A"/>
                </a:solidFill>
                <a:latin typeface="Calibri"/>
              </a:rPr>
              <a:t>Coaching insights nudge before month-end, not after.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257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75C03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2578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A"/>
                </a:solidFill>
                <a:latin typeface="Calibri"/>
              </a:rPr>
              <a:t>Managers spot late-week pushers and pull-forward stars instantly.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Leyton Arena · MVP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75C03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A1A26"/>
                </a:solidFill>
                <a:latin typeface="Calibri"/>
              </a:rPr>
              <a:t>Four mechanics, one rhythm.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A3A4A"/>
                </a:solidFill>
                <a:latin typeface="Calibri"/>
              </a:rPr>
              <a:t>Each loops daily. Together they replace month-end panic with daily pacing.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69748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640080" cy="411480"/>
          </a:xfrm>
          <a:prstGeom prst="roundRect">
            <a:avLst>
              <a:gd name="adj" fmla="val 4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A1A26"/>
                </a:solidFill>
                <a:latin typeface="Calibri"/>
              </a:rPr>
              <a:t>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A1A26"/>
                </a:solidFill>
                <a:latin typeface="Calibri"/>
              </a:rPr>
              <a:t>Daily fire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A3A4A"/>
                </a:solidFill>
                <a:latin typeface="Calibri"/>
              </a:rPr>
              <a:t>Every consultant has a fire that grows when they advance a claim. Miss a day, it resets. The cheapest, loudest reminder to do today's bit.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377440"/>
            <a:ext cx="269748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76472" y="2651760"/>
            <a:ext cx="640080" cy="411480"/>
          </a:xfrm>
          <a:prstGeom prst="roundRect">
            <a:avLst>
              <a:gd name="adj" fmla="val 4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6517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20040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A1A26"/>
                </a:solidFill>
                <a:latin typeface="Calibri"/>
              </a:rPr>
              <a:t>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40690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A1A26"/>
                </a:solidFill>
                <a:latin typeface="Calibri"/>
              </a:rPr>
              <a:t>Live leaderboard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4572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A3A4A"/>
                </a:solidFill>
                <a:latin typeface="Calibri"/>
              </a:rPr>
              <a:t>Top-3 podium, sparkline trends, position deltas. Filter by office or role. The board updates the moment work advances.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2377440"/>
            <a:ext cx="269748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38544" y="2651760"/>
            <a:ext cx="640080" cy="411480"/>
          </a:xfrm>
          <a:prstGeom prst="roundRect">
            <a:avLst>
              <a:gd name="adj" fmla="val 4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517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320040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A1A26"/>
                </a:solidFill>
                <a:latin typeface="Calibri"/>
              </a:rPr>
              <a:t>⚔️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40690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A1A26"/>
                </a:solidFill>
                <a:latin typeface="Calibri"/>
              </a:rPr>
              <a:t>Duels &amp; challenges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4572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A3A4A"/>
                </a:solidFill>
                <a:latin typeface="Calibri"/>
              </a:rPr>
              <a:t>Head-to-head on any metric. Pick a stake, pick a duration. Spectators cheer. Healthy rivalry, not pressure.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2377440"/>
            <a:ext cx="269748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00616" y="2651760"/>
            <a:ext cx="640080" cy="411480"/>
          </a:xfrm>
          <a:prstGeom prst="roundRect">
            <a:avLst>
              <a:gd name="adj" fmla="val 4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0616" y="26517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320040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A1A26"/>
                </a:solidFill>
                <a:latin typeface="Calibri"/>
              </a:rPr>
              <a:t>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40690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A1A26"/>
                </a:solidFill>
                <a:latin typeface="Calibri"/>
              </a:rPr>
              <a:t>Real rewards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4572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A3A4A"/>
                </a:solidFill>
                <a:latin typeface="Calibri"/>
              </a:rPr>
              <a:t>Badges convert to points. Points cash in for 34 real treats — coffee through to a long weekend. Skin in the game.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Leyton Arena · MVP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75C03"/>
                </a:solidFill>
                <a:latin typeface="Calibri"/>
              </a:rPr>
              <a:t>FOR THE CONSULTANT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A26"/>
                </a:solidFill>
                <a:latin typeface="Calibri"/>
              </a:rPr>
              <a:t>A coach in their pocket. Not another KPI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A3A4A"/>
                </a:solidFill>
                <a:latin typeface="Calibri"/>
              </a:rPr>
              <a:t>Honest signals, ranked, with confidence labels. Always paired with a concrete next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64008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E6E80"/>
                </a:solidFill>
                <a:latin typeface="Calibri"/>
              </a:rPr>
              <a:t>COACHING SUMMARY · LAST 6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A26"/>
                </a:solidFill>
                <a:latin typeface="Calibri"/>
              </a:rPr>
              <a:t>B · Smooth the 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703320"/>
            <a:ext cx="5669280" cy="777240"/>
          </a:xfrm>
          <a:prstGeom prst="roundRect">
            <a:avLst>
              <a:gd name="adj" fmla="val 6000"/>
            </a:avLst>
          </a:prstGeom>
          <a:solidFill>
            <a:srgbClr val="FFF5E6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38404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14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3A4A"/>
                </a:solidFill>
                <a:latin typeface="Calibri"/>
              </a:rPr>
              <a:t>Fast closer · 3.2d handover → invoice. Faster than 72% of peers.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572000"/>
            <a:ext cx="5669280" cy="777240"/>
          </a:xfrm>
          <a:prstGeom prst="roundRect">
            <a:avLst>
              <a:gd name="adj" fmla="val 6000"/>
            </a:avLst>
          </a:prstGeom>
          <a:solidFill>
            <a:srgbClr val="FFF5E6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4709160"/>
            <a:ext cx="48006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09160"/>
            <a:ext cx="4800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83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3A4A"/>
                </a:solidFill>
                <a:latin typeface="Calibri"/>
              </a:rPr>
              <a:t>Last-week pusher · 42% of pushes hit the final week. Surface risk on Tuesdays.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440680"/>
            <a:ext cx="5669280" cy="713232"/>
          </a:xfrm>
          <a:prstGeom prst="roundRect">
            <a:avLst>
              <a:gd name="adj" fmla="val 6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26"/>
                </a:solidFill>
                <a:latin typeface="Calibri"/>
              </a:rPr>
              <a:t>NEXT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74243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26"/>
                </a:solidFill>
                <a:latin typeface="Calibri"/>
              </a:rPr>
              <a:t>Ship one claim by day 10 · lifts early-% from 48% to 63%.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2860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43800" y="25786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45059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26"/>
                </a:solidFill>
                <a:latin typeface="Calibri"/>
              </a:rPr>
              <a:t>Honest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7432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A3A4A"/>
                </a:solidFill>
                <a:latin typeface="Calibri"/>
              </a:rPr>
              <a:t>Every insight carries a confidence label. No false precision.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24612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43800" y="353872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4107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26"/>
                </a:solidFill>
                <a:latin typeface="Calibri"/>
              </a:rPr>
              <a:t>Always actionable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7033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A3A4A"/>
                </a:solidFill>
                <a:latin typeface="Calibri"/>
              </a:rPr>
              <a:t>Pair each gap with a concrete suggestion — effort and impact tagged.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20624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43800" y="449884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3708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26"/>
                </a:solidFill>
                <a:latin typeface="Calibri"/>
              </a:rPr>
              <a:t>Tied to badges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6634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A3A4A"/>
                </a:solidFill>
                <a:latin typeface="Calibri"/>
              </a:rPr>
              <a:t>Improving and unlocking happen in the same motion.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16636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543800" y="545896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3309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26"/>
                </a:solidFill>
                <a:latin typeface="Calibri"/>
              </a:rPr>
              <a:t>Models the upside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6235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A3A4A"/>
                </a:solidFill>
                <a:latin typeface="Calibri"/>
              </a:rPr>
              <a:t>Pull these two levers → +2 ops/month, +£18k invoiced.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Leyton Arena · MVP preview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75C03"/>
                </a:solidFill>
                <a:latin typeface="Calibri"/>
              </a:rPr>
              <a:t>FOR THE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A26"/>
                </a:solidFill>
                <a:latin typeface="Calibri"/>
              </a:rPr>
              <a:t>See your team the way they actually deliver.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A3A4A"/>
                </a:solidFill>
                <a:latin typeface="Calibri"/>
              </a:rPr>
              <a:t>Three lenses: who's flying, who's slipping, and why the curve looks the way it does.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A1A26"/>
                </a:solidFill>
                <a:latin typeface="Calibri"/>
              </a:rPr>
              <a:t>Every consultant, segmented by momentum.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DFAF4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8587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7764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26"/>
                </a:solidFill>
                <a:latin typeface="Calibri"/>
              </a:rPr>
              <a:t>Improving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764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1A26"/>
                </a:solidFill>
                <a:latin typeface="Calibri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0624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DFAF4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43616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7939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26"/>
                </a:solidFill>
                <a:latin typeface="Calibri"/>
              </a:rPr>
              <a:t>Steady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939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1A26"/>
                </a:solidFill>
                <a:latin typeface="Calibri"/>
              </a:rPr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0916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DFAF4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486460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7823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26"/>
                </a:solidFill>
                <a:latin typeface="Calibri"/>
              </a:rPr>
              <a:t>Spiky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823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1A26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21208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DFAF4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1560" y="536752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5285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26"/>
                </a:solidFill>
                <a:latin typeface="Calibri"/>
              </a:rPr>
              <a:t>Sliding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852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1A26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6E6E80"/>
                </a:solidFill>
                <a:latin typeface="Calibri"/>
              </a:rPr>
              <a:t>One-tap 'Nudge' — sends coaching prompt to Teams.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228600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75C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560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THE CURVE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834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A1A26"/>
                </a:solidFill>
                <a:latin typeface="Calibri"/>
              </a:rPr>
              <a:t>Diagnose the spike.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4535424"/>
            <a:ext cx="365760" cy="768096"/>
          </a:xfrm>
          <a:prstGeom prst="roundRect">
            <a:avLst>
              <a:gd name="adj" fmla="val 15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294376" y="4389120"/>
            <a:ext cx="365760" cy="914400"/>
          </a:xfrm>
          <a:prstGeom prst="roundRect">
            <a:avLst>
              <a:gd name="adj" fmla="val 15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88152" y="3877056"/>
            <a:ext cx="365760" cy="1426464"/>
          </a:xfrm>
          <a:prstGeom prst="roundRect">
            <a:avLst>
              <a:gd name="adj" fmla="val 15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1928" y="4315968"/>
            <a:ext cx="365760" cy="987552"/>
          </a:xfrm>
          <a:prstGeom prst="roundRect">
            <a:avLst>
              <a:gd name="adj" fmla="val 15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75704" y="4169664"/>
            <a:ext cx="365760" cy="1133856"/>
          </a:xfrm>
          <a:prstGeom prst="roundRect">
            <a:avLst>
              <a:gd name="adj" fmla="val 15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69480" y="3657600"/>
            <a:ext cx="365760" cy="1645920"/>
          </a:xfrm>
          <a:prstGeom prst="roundRect">
            <a:avLst>
              <a:gd name="adj" fmla="val 1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53949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E6E80"/>
                </a:solidFill>
                <a:latin typeface="Calibri"/>
              </a:rPr>
              <a:t>Q-end runs +18% above other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56692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A3A4A"/>
                </a:solidFill>
                <a:latin typeface="Calibri"/>
              </a:rPr>
              <a:t>Top back-loaded contributors, office breakdown, month-over-month invoice trend.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228600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2560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PIPELINE DISCIPLINE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834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A1A26"/>
                </a:solidFill>
                <a:latin typeface="Calibri"/>
              </a:rPr>
              <a:t>Push vs pull behaviour, named.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3657600"/>
            <a:ext cx="3108960" cy="1005840"/>
          </a:xfrm>
          <a:prstGeom prst="roundRect">
            <a:avLst>
              <a:gd name="adj" fmla="val 5000"/>
            </a:avLst>
          </a:prstGeom>
          <a:solidFill>
            <a:srgbClr val="FFECEC"/>
          </a:solidFill>
          <a:ln w="12700">
            <a:solidFill>
              <a:srgbClr val="FF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732520" y="3767328"/>
            <a:ext cx="48006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3767328"/>
            <a:ext cx="4800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WORST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40690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26"/>
                </a:solidFill>
                <a:latin typeface="Calibri"/>
              </a:rPr>
              <a:t>Last-week pushers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343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3A4A"/>
                </a:solidFill>
                <a:latin typeface="Calibri"/>
              </a:rPr>
              <a:t>Pushes that cluster just before close.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4800600"/>
            <a:ext cx="3108960" cy="1005840"/>
          </a:xfrm>
          <a:prstGeom prst="roundRect">
            <a:avLst>
              <a:gd name="adj" fmla="val 5000"/>
            </a:avLst>
          </a:prstGeom>
          <a:solidFill>
            <a:srgbClr val="E9FAF6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32520" y="4910328"/>
            <a:ext cx="402336" cy="25603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910328"/>
            <a:ext cx="402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52120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26"/>
                </a:solidFill>
                <a:latin typeface="Calibri"/>
              </a:rPr>
              <a:t>Pull-forward heroes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486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3A4A"/>
                </a:solidFill>
                <a:latin typeface="Calibri"/>
              </a:rPr>
              <a:t>Accurate plan + over-delivery.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897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6E80"/>
                </a:solidFill>
                <a:latin typeface="Calibri"/>
              </a:rPr>
              <a:t>Coach the left. Celebrate the right.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Leyton Arena · MVP preview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75C03"/>
                </a:solidFill>
                <a:latin typeface="Calibri"/>
              </a:rPr>
              <a:t>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A1A26"/>
                </a:solidFill>
                <a:latin typeface="Calibri"/>
              </a:rPr>
              <a:t>A different shape of month.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A3A4A"/>
                </a:solidFill>
                <a:latin typeface="Calibri"/>
              </a:rPr>
              <a:t>Same people. Same workload. Different cadence — and a culture that compounds.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69748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2697480" cy="164592"/>
          </a:xfrm>
          <a:prstGeom prst="rect">
            <a:avLst/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75C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6"/>
                </a:solidFill>
                <a:latin typeface="Calibri"/>
              </a:rPr>
              <a:t>Flatter curve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A3A4A"/>
                </a:solidFill>
                <a:latin typeface="Calibri"/>
              </a:rPr>
              <a:t>Work spreads cleanly across the month. Day-1 → day-31, not day-25 → day-31.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377440"/>
            <a:ext cx="269748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2377440"/>
            <a:ext cx="2697480" cy="164592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76472" y="2926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37490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6"/>
                </a:solidFill>
                <a:latin typeface="Calibri"/>
              </a:rPr>
              <a:t>Forecasts you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434340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A3A4A"/>
                </a:solidFill>
                <a:latin typeface="Calibri"/>
              </a:rPr>
              <a:t>Planning accuracy is visible per consultant. Push patterns surface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2377440"/>
            <a:ext cx="269748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64224" y="2377440"/>
            <a:ext cx="2697480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38544" y="2926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37490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6"/>
                </a:solidFill>
                <a:latin typeface="Calibri"/>
              </a:rPr>
              <a:t>Public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434340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A3A4A"/>
                </a:solidFill>
                <a:latin typeface="Calibri"/>
              </a:rPr>
              <a:t>Top-3 podium, badges, season trophies. Reward the behaviour you want more of.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2377440"/>
            <a:ext cx="269748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DE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2377440"/>
            <a:ext cx="2697480" cy="164592"/>
          </a:xfrm>
          <a:prstGeom prst="rect">
            <a:avLst/>
          </a:prstGeom>
          <a:solidFill>
            <a:srgbClr val="F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0616" y="2926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0616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37490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6"/>
                </a:solidFill>
                <a:latin typeface="Calibri"/>
              </a:rPr>
              <a:t>Less burnout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434340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A3A4A"/>
                </a:solidFill>
                <a:latin typeface="Calibri"/>
              </a:rPr>
              <a:t>No more last-week scramble. Pacing replaces panic. Streaks beat heroics.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Leyton Arena · MVP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200400" cy="3200400"/>
          </a:xfrm>
          <a:prstGeom prst="ellipse">
            <a:avLst/>
          </a:prstGeom>
          <a:solidFill>
            <a:srgbClr val="FFC80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F75C0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C800"/>
                </a:solidFill>
                <a:latin typeface="Calibri"/>
              </a:rPr>
              <a:t>DEMO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Calibri"/>
              </a:rPr>
              <a:t>Let's open 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20440"/>
            <a:ext cx="6858000" cy="109728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CCCCDD"/>
                </a:solidFill>
                <a:latin typeface="Calibri"/>
              </a:rPr>
              <a:t>Live walkthrough — landing → login → home → coaching tab → manager curve.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CCCCDD"/>
                </a:solidFill>
                <a:latin typeface="Calibri"/>
              </a:rPr>
              <a:t>Five minutes. Real interactions. Real consultants.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77840"/>
            <a:ext cx="1463040" cy="502920"/>
          </a:xfrm>
          <a:prstGeom prst="roundRect">
            <a:avLst>
              <a:gd name="adj" fmla="val 40000"/>
            </a:avLst>
          </a:prstGeom>
          <a:solidFill>
            <a:srgbClr val="2B2B3A"/>
          </a:solidFill>
          <a:ln w="12700">
            <a:solidFill>
              <a:srgbClr val="FF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6235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C800"/>
                </a:solidFill>
                <a:latin typeface="Consolas"/>
              </a:rPr>
              <a:t>/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8247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577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C80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5577840"/>
            <a:ext cx="1463040" cy="502920"/>
          </a:xfrm>
          <a:prstGeom prst="roundRect">
            <a:avLst>
              <a:gd name="adj" fmla="val 40000"/>
            </a:avLst>
          </a:prstGeom>
          <a:solidFill>
            <a:srgbClr val="2B2B3A"/>
          </a:solidFill>
          <a:ln w="12700">
            <a:solidFill>
              <a:srgbClr val="FF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56235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C800"/>
                </a:solidFill>
                <a:latin typeface="Consolas"/>
              </a:rPr>
              <a:t>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58247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MOCK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5577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C80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5577840"/>
            <a:ext cx="1463040" cy="502920"/>
          </a:xfrm>
          <a:prstGeom prst="roundRect">
            <a:avLst>
              <a:gd name="adj" fmla="val 40000"/>
            </a:avLst>
          </a:prstGeom>
          <a:solidFill>
            <a:srgbClr val="2B2B3A"/>
          </a:solidFill>
          <a:ln w="12700">
            <a:solidFill>
              <a:srgbClr val="FF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56235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C800"/>
                </a:solidFill>
                <a:latin typeface="Consolas"/>
              </a:rPr>
              <a:t>/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58247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577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C800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5577840"/>
            <a:ext cx="1463040" cy="502920"/>
          </a:xfrm>
          <a:prstGeom prst="roundRect">
            <a:avLst>
              <a:gd name="adj" fmla="val 40000"/>
            </a:avLst>
          </a:prstGeom>
          <a:solidFill>
            <a:srgbClr val="2B2B3A"/>
          </a:solidFill>
          <a:ln w="12700">
            <a:solidFill>
              <a:srgbClr val="FF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56235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C800"/>
                </a:solidFill>
                <a:latin typeface="Consolas"/>
              </a:rPr>
              <a:t>/profile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58247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COACHING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5577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C800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5577840"/>
            <a:ext cx="1463040" cy="502920"/>
          </a:xfrm>
          <a:prstGeom prst="roundRect">
            <a:avLst>
              <a:gd name="adj" fmla="val 40000"/>
            </a:avLst>
          </a:prstGeom>
          <a:solidFill>
            <a:srgbClr val="2B2B3A"/>
          </a:solidFill>
          <a:ln w="12700">
            <a:solidFill>
              <a:srgbClr val="FF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56235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C800"/>
                </a:solidFill>
                <a:latin typeface="Consolas"/>
              </a:rPr>
              <a:t>/manager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58247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CURVE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Leyton Arena · MVP preview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E6E80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